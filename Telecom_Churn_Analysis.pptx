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58" r:id="rId4"/>
    <p:sldId id="259" r:id="rId5"/>
    <p:sldId id="269" r:id="rId6"/>
    <p:sldId id="263" r:id="rId7"/>
    <p:sldId id="266" r:id="rId8"/>
    <p:sldId id="261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FDE5"/>
    <a:srgbClr val="FFECEA"/>
    <a:srgbClr val="E3F6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44" y="-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79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3EF53-193F-B7CA-8966-96775E60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A5F2B-4903-3C45-35F9-6B18A8D3B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0E617-A3C8-CE57-C2FE-6F0ECCBBB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5BDE6-322D-178D-D658-2296AE1B5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2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D472-0024-BA41-E03C-D7589AAE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383C3-D0B4-BC7F-6E85-9EF956B33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6A0A5-FD4E-0DCD-98D9-BC907123F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58C9-9663-C1D3-3EA6-53968A65E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73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754880" cy="4754880"/>
          </a:xfrm>
          <a:prstGeom prst="ellipse">
            <a:avLst/>
          </a:prstGeom>
          <a:solidFill>
            <a:srgbClr val="E3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FFF6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828800" y="4937760"/>
            <a:ext cx="3291840" cy="3291840"/>
          </a:xfrm>
          <a:prstGeom prst="ellipse">
            <a:avLst/>
          </a:prstGeom>
          <a:solidFill>
            <a:srgbClr val="FF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6400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521189"/>
            <a:ext cx="9875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94360" y="409349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Customer Churn Analysis 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using Tableau </a:t>
            </a:r>
          </a:p>
          <a:p>
            <a:endParaRPr lang="en-IN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Amasis MT Pro" panose="02040504050005020304" pitchFamily="18" charset="0"/>
              </a:rPr>
              <a:t>Presented By: Vanshika ,Yogita</a:t>
            </a:r>
          </a:p>
          <a:p>
            <a:r>
              <a:rPr lang="en-IN" sz="2000" dirty="0">
                <a:solidFill>
                  <a:schemeClr val="accent1">
                    <a:lumMod val="50000"/>
                  </a:schemeClr>
                </a:solidFill>
                <a:latin typeface="Amasis MT Pro" panose="02040504050005020304" pitchFamily="18" charset="0"/>
              </a:rPr>
              <a:t>Roll No.: 25653, 25742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3DF3A-ECFA-48E6-0540-FCDBD777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0543362-AAFA-97F4-63ED-FDB404B69603}"/>
              </a:ext>
            </a:extLst>
          </p:cNvPr>
          <p:cNvSpPr/>
          <p:nvPr/>
        </p:nvSpPr>
        <p:spPr>
          <a:xfrm>
            <a:off x="439084" y="372833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About the Project</a:t>
            </a:r>
            <a:endParaRPr lang="en-US" sz="4400" b="1" dirty="0">
              <a:solidFill>
                <a:srgbClr val="00000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0FEAAE-7371-C28E-4028-5FD7CC784FB6}"/>
              </a:ext>
            </a:extLst>
          </p:cNvPr>
          <p:cNvSpPr/>
          <p:nvPr/>
        </p:nvSpPr>
        <p:spPr>
          <a:xfrm>
            <a:off x="439084" y="3429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 i="1" u="sng" dirty="0">
                <a:solidFill>
                  <a:schemeClr val="accent1">
                    <a:lumMod val="50000"/>
                  </a:schemeClr>
                </a:solidFill>
              </a:rPr>
              <a:t>What is Customer Churn?</a:t>
            </a:r>
          </a:p>
          <a:p>
            <a:r>
              <a:rPr lang="en-IN" sz="2400" dirty="0"/>
              <a:t> </a:t>
            </a:r>
            <a:r>
              <a:rPr lang="en-IN" sz="2400" dirty="0">
                <a:latin typeface="Baskerville Old Face" panose="02020602080505020303" pitchFamily="18" charset="0"/>
              </a:rPr>
              <a:t>When a customer stops using a company's service.</a:t>
            </a:r>
          </a:p>
          <a:p>
            <a:endParaRPr lang="en-IN" sz="2400" dirty="0">
              <a:latin typeface="Baskerville Old Face" panose="02020602080505020303" pitchFamily="18" charset="0"/>
            </a:endParaRPr>
          </a:p>
          <a:p>
            <a:r>
              <a:rPr lang="en-IN" sz="3200" b="1" i="1" u="sng" dirty="0">
                <a:solidFill>
                  <a:schemeClr val="accent1">
                    <a:lumMod val="50000"/>
                  </a:schemeClr>
                </a:solidFill>
              </a:rPr>
              <a:t>Why is it important?</a:t>
            </a:r>
          </a:p>
          <a:p>
            <a:pPr lvl="0"/>
            <a:r>
              <a:rPr lang="en-IN" sz="2400" dirty="0">
                <a:latin typeface="Baskerville Old Face" panose="02020602080505020303" pitchFamily="18" charset="0"/>
              </a:rPr>
              <a:t>1. Customer Loss </a:t>
            </a:r>
          </a:p>
          <a:p>
            <a:pPr lvl="0"/>
            <a:r>
              <a:rPr lang="en-IN" sz="2400" dirty="0">
                <a:latin typeface="Baskerville Old Face" panose="02020602080505020303" pitchFamily="18" charset="0"/>
              </a:rPr>
              <a:t>2. Revenue Loss </a:t>
            </a:r>
          </a:p>
          <a:p>
            <a:pPr lvl="0"/>
            <a:r>
              <a:rPr lang="en-IN" sz="2400" dirty="0">
                <a:latin typeface="Baskerville Old Face" panose="02020602080505020303" pitchFamily="18" charset="0"/>
              </a:rPr>
              <a:t>3. Finding Churn Reasons </a:t>
            </a:r>
          </a:p>
          <a:p>
            <a:pPr lvl="0"/>
            <a:r>
              <a:rPr lang="en-IN" sz="2400" dirty="0">
                <a:latin typeface="Baskerville Old Face" panose="02020602080505020303" pitchFamily="18" charset="0"/>
              </a:rPr>
              <a:t>4. Improving Customer Retention </a:t>
            </a:r>
          </a:p>
          <a:p>
            <a:pPr lvl="0"/>
            <a:r>
              <a:rPr lang="en-IN" sz="2400" dirty="0">
                <a:latin typeface="Baskerville Old Face" panose="02020602080505020303" pitchFamily="18" charset="0"/>
              </a:rPr>
              <a:t>5. Understand Customer Behaviour</a:t>
            </a:r>
          </a:p>
          <a:p>
            <a:pPr lvl="0"/>
            <a:r>
              <a:rPr lang="en-IN" sz="2400" dirty="0">
                <a:latin typeface="Baskerville Old Face" panose="02020602080505020303" pitchFamily="18" charset="0"/>
              </a:rPr>
              <a:t>6. Stay Competitive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701E943-F89B-124D-BA1E-238768A4B5AA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AB8793F-44DB-8DCE-8360-A0471C7B0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936" y="2128683"/>
            <a:ext cx="4334388" cy="26006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71081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089" y="248889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2149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OBJECTIVES &amp; METHODOLOGY </a:t>
            </a:r>
            <a:endParaRPr lang="en-US" sz="4400" b="1" dirty="0">
              <a:solidFill>
                <a:srgbClr val="00000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AD9DF-878A-7B1B-0F55-891680EDAB86}"/>
              </a:ext>
            </a:extLst>
          </p:cNvPr>
          <p:cNvSpPr txBox="1"/>
          <p:nvPr/>
        </p:nvSpPr>
        <p:spPr>
          <a:xfrm>
            <a:off x="750497" y="1371600"/>
            <a:ext cx="425282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Objectives</a:t>
            </a:r>
          </a:p>
          <a:p>
            <a:endParaRPr lang="en-IN" sz="2000" b="1" u="sng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askerville Old Face" panose="02020602080505020303" pitchFamily="18" charset="0"/>
              </a:rPr>
              <a:t>To understand customer churn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askerville Old Face" panose="02020602080505020303" pitchFamily="18" charset="0"/>
              </a:rPr>
              <a:t>To find the main reasons for customer churn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askerville Old Face" panose="02020602080505020303" pitchFamily="18" charset="0"/>
              </a:rPr>
              <a:t>To compare different customer groups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askerville Old Face" panose="02020602080505020303" pitchFamily="18" charset="0"/>
              </a:rPr>
              <a:t>To analyse contract, age, charges and payment method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Baskerville Old Face" panose="02020602080505020303" pitchFamily="18" charset="0"/>
              </a:rPr>
              <a:t>To understand the effect of churn on the company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0BE3E-3740-2180-E370-F871F15F2BB2}"/>
              </a:ext>
            </a:extLst>
          </p:cNvPr>
          <p:cNvSpPr txBox="1"/>
          <p:nvPr/>
        </p:nvSpPr>
        <p:spPr>
          <a:xfrm>
            <a:off x="8108830" y="1371600"/>
            <a:ext cx="261380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</a:t>
            </a:r>
          </a:p>
          <a:p>
            <a:endParaRPr lang="en-IN" sz="2000" b="1" u="sng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Dataset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Tableau</a:t>
            </a:r>
          </a:p>
          <a:p>
            <a:pPr algn="ctr">
              <a:lnSpc>
                <a:spcPct val="150000"/>
              </a:lnSpc>
            </a:pPr>
            <a:endParaRPr lang="en-IN" sz="2000" dirty="0">
              <a:latin typeface="Baskerville Old Face" panose="020206020805050203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             Visualizations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          Dashboards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Baskerville Old Face" panose="02020602080505020303" pitchFamily="18" charset="0"/>
              </a:rPr>
              <a:t>  Insights</a:t>
            </a:r>
          </a:p>
          <a:p>
            <a:endParaRPr lang="en-IN" sz="2000" b="1" u="sng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483949-EFBA-FB5D-BB6A-50AB403D7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830" y="1933390"/>
            <a:ext cx="584775" cy="584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D4B460-41BD-A2B5-C822-5657914B7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381" y="2804934"/>
            <a:ext cx="1140542" cy="7843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42FB60-D31F-AA3B-5B71-67B8B4B78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700" y="3896118"/>
            <a:ext cx="503905" cy="5039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ABDF69-BF20-EECA-A31D-BC67A97042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010" y="4761082"/>
            <a:ext cx="502675" cy="6093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7DDC38-FCB1-D4AC-ADB2-4D7BF46EB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010" y="5615693"/>
            <a:ext cx="656302" cy="6563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2243" y="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 i="1" dirty="0"/>
              <a:t>Customer Churn Overview</a:t>
            </a:r>
            <a:endParaRPr lang="en-US" sz="3200" b="1" i="1" dirty="0"/>
          </a:p>
        </p:txBody>
      </p:sp>
      <p:sp>
        <p:nvSpPr>
          <p:cNvPr id="4" name="Shape 2"/>
          <p:cNvSpPr/>
          <p:nvPr/>
        </p:nvSpPr>
        <p:spPr>
          <a:xfrm>
            <a:off x="341606" y="118872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4506" y="152558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000" b="1" u="sng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This dashboard shows: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1.👥 Total Customers 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2.  Churned Customers   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3. 📊 Churn Rate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4.📄 Churn by Contract Type 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5.👥 Churn by Age Group  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6.📍 State-wise Churn Rate 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7.📞 Customer Service Calls 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8.💰 Avg  Monthly Charges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9. Top State Observed With Higher Churn</a:t>
            </a:r>
          </a:p>
          <a:p>
            <a:pPr lvl="0">
              <a:lnSpc>
                <a:spcPct val="150000"/>
              </a:lnSpc>
            </a:pPr>
            <a:r>
              <a:rPr lang="en-IN" sz="1400" dirty="0"/>
              <a:t>10.Customer Bas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181085-FF60-2BE9-41C0-F9BAE7043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306" y="777240"/>
            <a:ext cx="6994946" cy="5427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BCE61-2561-B6CB-6860-168CAF62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6C196C8-6CA7-FFB3-BC60-1D31383F2D48}"/>
              </a:ext>
            </a:extLst>
          </p:cNvPr>
          <p:cNvSpPr/>
          <p:nvPr/>
        </p:nvSpPr>
        <p:spPr>
          <a:xfrm>
            <a:off x="274320" y="89025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i="1" dirty="0"/>
              <a:t>Churn Factors &amp; Customer Insights</a:t>
            </a:r>
            <a:endParaRPr lang="en-US" sz="4400" b="1" dirty="0">
              <a:solidFill>
                <a:srgbClr val="00000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E12D09-9D3A-9CA1-8485-785EA6DB7CC2}"/>
              </a:ext>
            </a:extLst>
          </p:cNvPr>
          <p:cNvSpPr/>
          <p:nvPr/>
        </p:nvSpPr>
        <p:spPr>
          <a:xfrm>
            <a:off x="341606" y="1188720"/>
            <a:ext cx="3730062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790FB4-9788-A0EE-8D37-6BEC77A718E6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33C76-FDA1-004A-7CEB-645911B41D83}"/>
              </a:ext>
            </a:extLst>
          </p:cNvPr>
          <p:cNvSpPr txBox="1"/>
          <p:nvPr/>
        </p:nvSpPr>
        <p:spPr>
          <a:xfrm>
            <a:off x="638355" y="1630392"/>
            <a:ext cx="3183147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This dashboard focuses on: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1.💰 Monthly Revenue Charges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2.💳 Payment Method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3.🌍 International Plan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4.❓ Main Churn Reasons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5.🏢 Competitor-related Churn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6.📉 Monthly Revenue Lost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7.Customer Left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EAEED-66FB-D5F3-D651-7434595E0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740" y="866265"/>
            <a:ext cx="7508484" cy="524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000" b="1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813816"/>
            <a:ext cx="11612880" cy="777240"/>
          </a:xfrm>
          <a:prstGeom prst="roundRect">
            <a:avLst>
              <a:gd name="adj" fmla="val 6452"/>
            </a:avLst>
          </a:prstGeom>
          <a:solidFill>
            <a:srgbClr val="E3F6F5"/>
          </a:solidFill>
          <a:ln/>
        </p:spPr>
        <p:txBody>
          <a:bodyPr/>
          <a:lstStyle/>
          <a:p>
            <a:r>
              <a:rPr lang="en-IN" sz="3600" b="1" i="1" dirty="0">
                <a:solidFill>
                  <a:schemeClr val="accent1">
                    <a:lumMod val="50000"/>
                  </a:schemeClr>
                </a:solidFill>
              </a:rPr>
              <a:t>📊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Tableau Analysis</a:t>
            </a:r>
            <a:r>
              <a:rPr lang="en-IN" sz="24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:</a:t>
            </a:r>
            <a:r>
              <a:rPr lang="en-IN" sz="36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IN" sz="1600" dirty="0"/>
              <a:t>Tableau helped us analyse telecom customer data through visualizations</a:t>
            </a:r>
            <a:r>
              <a:rPr lang="en-IN" dirty="0"/>
              <a:t>.</a:t>
            </a:r>
            <a:endParaRPr lang="en-IN" sz="2400" dirty="0"/>
          </a:p>
        </p:txBody>
      </p:sp>
      <p:sp>
        <p:nvSpPr>
          <p:cNvPr id="16" name="Shape 14"/>
          <p:cNvSpPr/>
          <p:nvPr/>
        </p:nvSpPr>
        <p:spPr>
          <a:xfrm>
            <a:off x="274319" y="1755648"/>
            <a:ext cx="11612879" cy="777240"/>
          </a:xfrm>
          <a:prstGeom prst="roundRect">
            <a:avLst>
              <a:gd name="adj" fmla="val 6452"/>
            </a:avLst>
          </a:prstGeom>
          <a:solidFill>
            <a:srgbClr val="E3F6F5"/>
          </a:solidFill>
          <a:ln/>
        </p:spPr>
        <p:txBody>
          <a:bodyPr/>
          <a:lstStyle/>
          <a:p>
            <a:r>
              <a:rPr lang="en-IN" sz="3600" b="1" i="1" dirty="0">
                <a:solidFill>
                  <a:schemeClr val="accent1">
                    <a:lumMod val="50000"/>
                  </a:schemeClr>
                </a:solidFill>
              </a:rPr>
              <a:t>👥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Customer Understanding: </a:t>
            </a:r>
            <a:r>
              <a:rPr lang="en-IN" sz="1600" dirty="0"/>
              <a:t>The dashboards helped us understand customer churn and different customer groups.</a:t>
            </a:r>
          </a:p>
        </p:txBody>
      </p:sp>
      <p:sp>
        <p:nvSpPr>
          <p:cNvPr id="28" name="Shape 26"/>
          <p:cNvSpPr/>
          <p:nvPr/>
        </p:nvSpPr>
        <p:spPr>
          <a:xfrm>
            <a:off x="274320" y="2681262"/>
            <a:ext cx="11612880" cy="775170"/>
          </a:xfrm>
          <a:prstGeom prst="roundRect">
            <a:avLst>
              <a:gd name="adj" fmla="val 6452"/>
            </a:avLst>
          </a:prstGeom>
          <a:solidFill>
            <a:srgbClr val="E3F6F5"/>
          </a:solidFill>
          <a:ln/>
        </p:spPr>
        <p:txBody>
          <a:bodyPr/>
          <a:lstStyle/>
          <a:p>
            <a:r>
              <a:rPr lang="en-IN" sz="2800" b="1" i="1" dirty="0">
                <a:solidFill>
                  <a:schemeClr val="accent1">
                    <a:lumMod val="50000"/>
                  </a:schemeClr>
                </a:solidFill>
              </a:rPr>
              <a:t>🔍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Churn Factors: </a:t>
            </a:r>
            <a:r>
              <a:rPr lang="en-IN" sz="1600" dirty="0"/>
              <a:t>We studied factors such as contract, age, charges, payment method and service calls.</a:t>
            </a:r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1411F46D-5CA9-AFF6-8BFC-78AF393494D2}"/>
              </a:ext>
            </a:extLst>
          </p:cNvPr>
          <p:cNvSpPr/>
          <p:nvPr/>
        </p:nvSpPr>
        <p:spPr>
          <a:xfrm>
            <a:off x="274320" y="3691674"/>
            <a:ext cx="11612878" cy="775170"/>
          </a:xfrm>
          <a:prstGeom prst="roundRect">
            <a:avLst>
              <a:gd name="adj" fmla="val 6452"/>
            </a:avLst>
          </a:prstGeom>
          <a:solidFill>
            <a:srgbClr val="E3F6F5"/>
          </a:solidFill>
          <a:ln/>
        </p:spPr>
        <p:txBody>
          <a:bodyPr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💡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Useful Insights: </a:t>
            </a:r>
            <a:r>
              <a:rPr lang="en-IN" sz="1600" dirty="0"/>
              <a:t>The dashboards helped us understand possible reasons related to customer churn</a:t>
            </a:r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9C388DF0-CD0C-03B7-9005-BD0B095BDA78}"/>
              </a:ext>
            </a:extLst>
          </p:cNvPr>
          <p:cNvSpPr/>
          <p:nvPr/>
        </p:nvSpPr>
        <p:spPr>
          <a:xfrm>
            <a:off x="274320" y="4814574"/>
            <a:ext cx="11612880" cy="775170"/>
          </a:xfrm>
          <a:prstGeom prst="roundRect">
            <a:avLst>
              <a:gd name="adj" fmla="val 6452"/>
            </a:avLst>
          </a:prstGeom>
          <a:solidFill>
            <a:srgbClr val="E3F6F5"/>
          </a:solidFill>
          <a:ln/>
        </p:spPr>
        <p:txBody>
          <a:bodyPr/>
          <a:lstStyle/>
          <a:p>
            <a:r>
              <a:rPr lang="en-IN" sz="2800" b="1" i="1" dirty="0">
                <a:solidFill>
                  <a:schemeClr val="accent1">
                    <a:lumMod val="50000"/>
                  </a:schemeClr>
                </a:solidFill>
              </a:rPr>
              <a:t>💰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Business Impact: </a:t>
            </a:r>
            <a:r>
              <a:rPr lang="en-IN" sz="1600" dirty="0"/>
              <a:t>Customer churn can affect the company's revenue</a:t>
            </a:r>
            <a:r>
              <a:rPr lang="en-IN" dirty="0"/>
              <a:t>.</a:t>
            </a: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2E1B1C86-FE4B-3D31-CC72-147680DE9E3F}"/>
              </a:ext>
            </a:extLst>
          </p:cNvPr>
          <p:cNvSpPr/>
          <p:nvPr/>
        </p:nvSpPr>
        <p:spPr>
          <a:xfrm>
            <a:off x="304800" y="5899950"/>
            <a:ext cx="11582398" cy="775170"/>
          </a:xfrm>
          <a:prstGeom prst="roundRect">
            <a:avLst>
              <a:gd name="adj" fmla="val 6452"/>
            </a:avLst>
          </a:prstGeom>
          <a:solidFill>
            <a:srgbClr val="E3F6F5"/>
          </a:solidFill>
          <a:ln/>
        </p:spPr>
        <p:txBody>
          <a:bodyPr/>
          <a:lstStyle/>
          <a:p>
            <a:r>
              <a:rPr lang="en-IN" sz="2800" b="1" i="1" dirty="0">
                <a:solidFill>
                  <a:schemeClr val="accent1">
                    <a:lumMod val="50000"/>
                  </a:schemeClr>
                </a:solidFill>
              </a:rPr>
              <a:t>🎯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Customer Retention:</a:t>
            </a:r>
            <a:r>
              <a:rPr lang="en-IN" sz="2800" b="1" i="1" u="sng" dirty="0">
                <a:solidFill>
                  <a:schemeClr val="accent1">
                    <a:lumMod val="50000"/>
                  </a:schemeClr>
                </a:solidFill>
                <a:latin typeface="Amasis MT Pro Black" panose="02040A04050005020304" pitchFamily="18" charset="0"/>
              </a:rPr>
              <a:t> </a:t>
            </a:r>
            <a:r>
              <a:rPr lang="en-IN" sz="1600" dirty="0"/>
              <a:t>The analysis can help the company understand customer problems and work towards retaining                                                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C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1158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400" b="1" i="1" dirty="0"/>
              <a:t>Key</a:t>
            </a:r>
            <a:r>
              <a:rPr lang="en-IN" sz="3200" b="1" i="1" dirty="0"/>
              <a:t> </a:t>
            </a:r>
            <a:r>
              <a:rPr lang="en-IN" sz="4400" b="1" i="1" dirty="0"/>
              <a:t>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16916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i="1" dirty="0"/>
              <a:t>Contract Type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Churn behaviour can be different for different types of contracts</a:t>
            </a:r>
            <a:r>
              <a:rPr lang="en-IN" sz="1050" dirty="0"/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1920240"/>
            <a:ext cx="594360" cy="594360"/>
          </a:xfrm>
          <a:prstGeom prst="ellipse">
            <a:avLst/>
          </a:prstGeom>
          <a:solidFill>
            <a:srgbClr val="D844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3135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i="1" dirty="0"/>
              <a:t>Customer Service Calls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2975" y="297180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Frequent service calls can help identify customer problems related to the service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12480" y="1920240"/>
            <a:ext cx="594360" cy="594360"/>
          </a:xfrm>
          <a:prstGeom prst="ellipse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124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👛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i="1" dirty="0"/>
              <a:t>Payment Method</a:t>
            </a:r>
            <a:endParaRPr lang="en-US" sz="1350" i="1" dirty="0"/>
          </a:p>
        </p:txBody>
      </p:sp>
      <p:sp>
        <p:nvSpPr>
          <p:cNvPr id="18" name="Text 16"/>
          <p:cNvSpPr/>
          <p:nvPr/>
        </p:nvSpPr>
        <p:spPr>
          <a:xfrm>
            <a:off x="8366760" y="2971800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Churn patterns can be different across various payment methods</a:t>
            </a: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46020" y="42519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20340" y="4480560"/>
            <a:ext cx="594360" cy="594360"/>
          </a:xfrm>
          <a:prstGeom prst="ellipse">
            <a:avLst/>
          </a:prstGeom>
          <a:solidFill>
            <a:srgbClr val="5B4F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20340" y="4480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7462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i="1" dirty="0"/>
              <a:t>Monthly Charges</a:t>
            </a:r>
            <a:endParaRPr lang="en-US" sz="1350" i="1" dirty="0"/>
          </a:p>
        </p:txBody>
      </p:sp>
      <p:sp>
        <p:nvSpPr>
          <p:cNvPr id="23" name="Text 21"/>
          <p:cNvSpPr/>
          <p:nvPr/>
        </p:nvSpPr>
        <p:spPr>
          <a:xfrm>
            <a:off x="2674620" y="5623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Monthly charges can be compared with churn to understand customer behaviour.</a:t>
            </a: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40780" y="42519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15100" y="44805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15100" y="4480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69380" y="5166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i="1" dirty="0"/>
              <a:t>Competition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9380" y="56235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1050" dirty="0"/>
              <a:t>Competitor-related factors are one of the areas considered when studying customer churn.</a:t>
            </a:r>
          </a:p>
        </p:txBody>
      </p:sp>
      <p:sp>
        <p:nvSpPr>
          <p:cNvPr id="29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2607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Builds Over Time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74320" y="794684"/>
            <a:ext cx="4008120" cy="156895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ctr"/>
            <a:r>
              <a:rPr lang="en-IN" sz="2000" b="1" i="1" dirty="0"/>
              <a:t>💬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</a:rPr>
              <a:t>Improve Customer Service</a:t>
            </a:r>
            <a:br>
              <a:rPr lang="en-IN" dirty="0"/>
            </a:br>
            <a:r>
              <a:rPr lang="en-IN" dirty="0"/>
              <a:t>Solve customer problems quickly and improve service experience.</a:t>
            </a: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6CAB6B0-A6C5-F63B-8DF4-E6D71A18FBB3}"/>
              </a:ext>
            </a:extLst>
          </p:cNvPr>
          <p:cNvSpPr/>
          <p:nvPr/>
        </p:nvSpPr>
        <p:spPr>
          <a:xfrm>
            <a:off x="304800" y="2644523"/>
            <a:ext cx="3977639" cy="156895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ctr"/>
            <a:endParaRPr lang="en-IN" sz="20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7C376E3E-BBD3-FDA6-6CE7-82BACFF5A01E}"/>
              </a:ext>
            </a:extLst>
          </p:cNvPr>
          <p:cNvSpPr/>
          <p:nvPr/>
        </p:nvSpPr>
        <p:spPr>
          <a:xfrm>
            <a:off x="274319" y="4626347"/>
            <a:ext cx="4008119" cy="156895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ctr"/>
            <a:r>
              <a:rPr lang="en-IN" sz="2400" b="1" i="1" dirty="0"/>
              <a:t>📄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</a:rPr>
              <a:t>Review Plans &amp; Contracts</a:t>
            </a:r>
            <a:br>
              <a:rPr lang="en-IN" sz="2400" b="1" i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/>
              <a:t>Understand which plans and contracts may need improvement</a:t>
            </a: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3C8468E-D0E2-F7A0-D596-213CEBFE2438}"/>
              </a:ext>
            </a:extLst>
          </p:cNvPr>
          <p:cNvSpPr/>
          <p:nvPr/>
        </p:nvSpPr>
        <p:spPr>
          <a:xfrm>
            <a:off x="5633049" y="794684"/>
            <a:ext cx="3891951" cy="156895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ctr"/>
            <a:r>
              <a:rPr lang="en-IN" sz="2400" b="1" i="1" dirty="0"/>
              <a:t>💳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</a:rPr>
              <a:t>Improve Payment Experience</a:t>
            </a:r>
            <a:br>
              <a:rPr lang="en-IN" sz="2000" dirty="0"/>
            </a:br>
            <a:r>
              <a:rPr lang="en-IN" dirty="0"/>
              <a:t>Understand payment preferences and make payment options convenient.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70056552-9C5F-52CF-CFF4-3CD3BD9CE8BD}"/>
              </a:ext>
            </a:extLst>
          </p:cNvPr>
          <p:cNvSpPr/>
          <p:nvPr/>
        </p:nvSpPr>
        <p:spPr>
          <a:xfrm>
            <a:off x="5633049" y="2644523"/>
            <a:ext cx="3891951" cy="156895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  <p:txBody>
          <a:bodyPr/>
          <a:lstStyle/>
          <a:p>
            <a:r>
              <a:rPr lang="en-IN" sz="2400" b="1" i="1" dirty="0">
                <a:solidFill>
                  <a:schemeClr val="accent1">
                    <a:lumMod val="50000"/>
                  </a:schemeClr>
                </a:solidFill>
              </a:rPr>
              <a:t>🏢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</a:rPr>
              <a:t>Monitor Competitors</a:t>
            </a:r>
            <a:br>
              <a:rPr lang="en-IN" sz="2000" dirty="0"/>
            </a:br>
            <a:r>
              <a:rPr lang="en-IN" dirty="0"/>
              <a:t>Understand competitor-related reasons for customer switching.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6C54464-A652-51E3-C405-FF16854DC3A8}"/>
              </a:ext>
            </a:extLst>
          </p:cNvPr>
          <p:cNvSpPr/>
          <p:nvPr/>
        </p:nvSpPr>
        <p:spPr>
          <a:xfrm>
            <a:off x="5633049" y="4494362"/>
            <a:ext cx="3884187" cy="156895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ctr"/>
            <a:r>
              <a:rPr lang="en-IN" sz="2400" b="1" i="1" dirty="0"/>
              <a:t>💰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</a:rPr>
              <a:t>Monitor Charges</a:t>
            </a:r>
            <a:br>
              <a:rPr lang="en-IN" sz="2000" dirty="0"/>
            </a:br>
            <a:r>
              <a:rPr lang="en-IN" sz="2000" dirty="0"/>
              <a:t>Study monthly charges and customer churn together.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94C68E-30F8-F66C-607F-8FB75A58559D}"/>
              </a:ext>
            </a:extLst>
          </p:cNvPr>
          <p:cNvSpPr txBox="1"/>
          <p:nvPr/>
        </p:nvSpPr>
        <p:spPr>
          <a:xfrm>
            <a:off x="274320" y="2776508"/>
            <a:ext cx="354830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/>
              <a:t>🎯 </a:t>
            </a:r>
            <a:r>
              <a:rPr lang="en-IN" sz="2000" b="1" i="1" u="sng" dirty="0">
                <a:solidFill>
                  <a:schemeClr val="accent1">
                    <a:lumMod val="50000"/>
                  </a:schemeClr>
                </a:solidFill>
              </a:rPr>
              <a:t>Focus on At-Risk Customers</a:t>
            </a:r>
            <a:br>
              <a:rPr lang="en-IN" dirty="0"/>
            </a:br>
            <a:r>
              <a:rPr lang="en-IN" dirty="0"/>
              <a:t>Identify customers who may be more likely to leave.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4754880" cy="4754880"/>
          </a:xfrm>
          <a:prstGeom prst="ellipse">
            <a:avLst/>
          </a:prstGeom>
          <a:solidFill>
            <a:srgbClr val="E3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7315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73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646F8-56FF-CFEB-831C-34B8629A5457}"/>
              </a:ext>
            </a:extLst>
          </p:cNvPr>
          <p:cNvSpPr txBox="1"/>
          <p:nvPr/>
        </p:nvSpPr>
        <p:spPr>
          <a:xfrm>
            <a:off x="2799131" y="3588882"/>
            <a:ext cx="45512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1">
                    <a:lumMod val="50000"/>
                  </a:schemeClr>
                </a:solidFill>
              </a:rPr>
              <a:t>📊 📱 💡 </a:t>
            </a:r>
          </a:p>
          <a:p>
            <a:pPr algn="ctr"/>
            <a:r>
              <a:rPr lang="en-IN" sz="3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Telecom Customer Churn Analysis</a:t>
            </a:r>
          </a:p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  Using Tableau </a:t>
            </a:r>
            <a:endParaRPr lang="en-IN" sz="3600" dirty="0">
              <a:solidFill>
                <a:schemeClr val="accent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524</Words>
  <Application>Microsoft Office PowerPoint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ADLaM Display</vt:lpstr>
      <vt:lpstr>Amasis MT Pro</vt:lpstr>
      <vt:lpstr>Amasis MT Pro Black</vt:lpstr>
      <vt:lpstr>Arial</vt:lpstr>
      <vt:lpstr>Baskerville Old Face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malisha negi</cp:lastModifiedBy>
  <cp:revision>2</cp:revision>
  <dcterms:created xsi:type="dcterms:W3CDTF">2026-09-17T13:15:11Z</dcterms:created>
  <dcterms:modified xsi:type="dcterms:W3CDTF">2026-09-28T07:39:52Z</dcterms:modified>
</cp:coreProperties>
</file>